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61" r:id="rId3"/>
    <p:sldId id="281" r:id="rId4"/>
    <p:sldId id="263" r:id="rId5"/>
    <p:sldId id="304" r:id="rId6"/>
    <p:sldId id="264" r:id="rId7"/>
    <p:sldId id="299" r:id="rId8"/>
    <p:sldId id="300" r:id="rId9"/>
    <p:sldId id="301" r:id="rId10"/>
    <p:sldId id="302" r:id="rId11"/>
    <p:sldId id="303" r:id="rId12"/>
    <p:sldId id="305" r:id="rId13"/>
    <p:sldId id="306" r:id="rId14"/>
    <p:sldId id="307" r:id="rId15"/>
    <p:sldId id="295" r:id="rId16"/>
    <p:sldId id="276" r:id="rId17"/>
    <p:sldId id="297" r:id="rId18"/>
    <p:sldId id="298" r:id="rId19"/>
    <p:sldId id="259" r:id="rId20"/>
  </p:sldIdLst>
  <p:sldSz cx="12192000" cy="6858000"/>
  <p:notesSz cx="6858000" cy="9144000"/>
  <p:embeddedFontLst>
    <p:embeddedFont>
      <p:font typeface="Cambria Math" panose="02040503050406030204" pitchFamily="18"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A9C0DD-6FF1-42E8-8A13-E636A827614B}" v="1551" dt="2025-11-07T17:37:57.6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374" autoAdjust="0"/>
  </p:normalViewPr>
  <p:slideViewPr>
    <p:cSldViewPr snapToGrid="0">
      <p:cViewPr varScale="1">
        <p:scale>
          <a:sx n="99" d="100"/>
          <a:sy n="99" d="100"/>
        </p:scale>
        <p:origin x="12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570378"/>
            <a:ext cx="12190815" cy="6694098"/>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1104644" y="4860435"/>
            <a:ext cx="9291286"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 Web Scraping and Exploratory Data Analysis of Electric Vehicles Data</a:t>
            </a:r>
          </a:p>
        </p:txBody>
      </p:sp>
      <p:pic>
        <p:nvPicPr>
          <p:cNvPr id="13" name="Picture 12">
            <a:extLst>
              <a:ext uri="{FF2B5EF4-FFF2-40B4-BE49-F238E27FC236}">
                <a16:creationId xmlns:a16="http://schemas.microsoft.com/office/drawing/2014/main" id="{E2AFFB88-C46F-FF06-1B75-286BD6687E07}"/>
              </a:ext>
            </a:extLst>
          </p:cNvPr>
          <p:cNvPicPr>
            <a:picLocks noChangeAspect="1"/>
          </p:cNvPicPr>
          <p:nvPr/>
        </p:nvPicPr>
        <p:blipFill>
          <a:blip r:embed="rId4"/>
          <a:srcRect/>
          <a:stretch/>
        </p:blipFill>
        <p:spPr>
          <a:xfrm>
            <a:off x="3896138" y="3031435"/>
            <a:ext cx="4671391" cy="1829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3000" b="1" dirty="0">
                <a:solidFill>
                  <a:schemeClr val="tx1"/>
                </a:solidFill>
                <a:latin typeface="Times New Roman" panose="02020603050405020304" pitchFamily="18" charset="0"/>
                <a:cs typeface="Times New Roman" panose="02020603050405020304" pitchFamily="18" charset="0"/>
              </a:rPr>
              <a:t>Introduction:</a:t>
            </a: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 Placeholder 7">
            <a:extLst>
              <a:ext uri="{FF2B5EF4-FFF2-40B4-BE49-F238E27FC236}">
                <a16:creationId xmlns:a16="http://schemas.microsoft.com/office/drawing/2014/main" id="{9EBD6294-64D2-31CD-E58E-550E88AA214C}"/>
              </a:ext>
            </a:extLst>
          </p:cNvPr>
          <p:cNvSpPr>
            <a:spLocks noGrp="1"/>
          </p:cNvSpPr>
          <p:nvPr>
            <p:ph type="body" idx="1"/>
          </p:nvPr>
        </p:nvSpPr>
        <p:spPr>
          <a:xfrm>
            <a:off x="838200" y="1278827"/>
            <a:ext cx="10498393" cy="4346722"/>
          </a:xfrm>
        </p:spPr>
        <p:txBody>
          <a:bodyPr>
            <a:normAutofit/>
          </a:bodyPr>
          <a:lstStyle/>
          <a:p>
            <a:r>
              <a:rPr lang="en-US" sz="2000" dirty="0">
                <a:latin typeface="Times New Roman" panose="02020603050405020304" pitchFamily="18" charset="0"/>
                <a:cs typeface="Times New Roman" panose="02020603050405020304" pitchFamily="18" charset="0"/>
              </a:rPr>
              <a:t>Electric Vehicles (EVs) use rechargeable batteries and electric motors instead of fuel engines.</a:t>
            </a:r>
          </a:p>
          <a:p>
            <a:r>
              <a:rPr lang="en-US" sz="2000" dirty="0">
                <a:latin typeface="Times New Roman" panose="02020603050405020304" pitchFamily="18" charset="0"/>
                <a:cs typeface="Times New Roman" panose="02020603050405020304" pitchFamily="18" charset="0"/>
              </a:rPr>
              <a:t>They produce zero tailpipe emissions, making them eco-friendly and cost-efficient.</a:t>
            </a:r>
          </a:p>
          <a:p>
            <a:r>
              <a:rPr lang="en-US" sz="2000" dirty="0">
                <a:latin typeface="Times New Roman" panose="02020603050405020304" pitchFamily="18" charset="0"/>
                <a:cs typeface="Times New Roman" panose="02020603050405020304" pitchFamily="18" charset="0"/>
              </a:rPr>
              <a:t>EVs convert over 85% of electrical energy into motion, compared to ~25% for petrol cars.</a:t>
            </a:r>
          </a:p>
          <a:p>
            <a:r>
              <a:rPr lang="en-US" sz="2000" dirty="0">
                <a:latin typeface="Times New Roman" panose="02020603050405020304" pitchFamily="18" charset="0"/>
                <a:cs typeface="Times New Roman" panose="02020603050405020304" pitchFamily="18" charset="0"/>
              </a:rPr>
              <a:t>Supported by advances in battery tech, charging stations, and green policies.</a:t>
            </a:r>
          </a:p>
          <a:p>
            <a:r>
              <a:rPr lang="en-US" sz="2000" dirty="0">
                <a:latin typeface="Times New Roman" panose="02020603050405020304" pitchFamily="18" charset="0"/>
                <a:cs typeface="Times New Roman" panose="02020603050405020304" pitchFamily="18" charset="0"/>
              </a:rPr>
              <a:t>EVs are shaping the future of clean, smart, and sustainable transportation. </a:t>
            </a:r>
          </a:p>
          <a:p>
            <a:r>
              <a:rPr lang="en-US" sz="2000" dirty="0">
                <a:latin typeface="Times New Roman" panose="02020603050405020304" pitchFamily="18" charset="0"/>
                <a:cs typeface="Times New Roman" panose="02020603050405020304" pitchFamily="18" charset="0"/>
              </a:rPr>
              <a:t>With Tesla’s Roadster (2008) and Nissan Leaf (2010), EVs entered mainstream markets. Rapid improvements in battery range, charging infrastructure, and government incentives have made EVs globally popular.</a:t>
            </a:r>
          </a:p>
          <a:p>
            <a:r>
              <a:rPr lang="en-US" sz="2000" dirty="0">
                <a:latin typeface="Times New Roman" panose="02020603050405020304" pitchFamily="18" charset="0"/>
                <a:cs typeface="Times New Roman" panose="02020603050405020304" pitchFamily="18" charset="0"/>
              </a:rPr>
              <a:t>EVs are among the fastest-growing vehicle segments, with millions sold each year and major automakers fully transitioning to electric fleets.</a:t>
            </a:r>
          </a:p>
          <a:p>
            <a:pPr marL="11430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89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95545" y="289068"/>
            <a:ext cx="10498393" cy="989759"/>
          </a:xfrm>
        </p:spPr>
        <p:txBody>
          <a:bodyPr>
            <a:normAutofit/>
          </a:bodyPr>
          <a:lstStyle/>
          <a:p>
            <a:r>
              <a:rPr lang="en-IN" sz="3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220DBD2A-2603-F502-B2D8-6CE9EB49EA78}"/>
              </a:ext>
            </a:extLst>
          </p:cNvPr>
          <p:cNvSpPr txBox="1"/>
          <p:nvPr/>
        </p:nvSpPr>
        <p:spPr>
          <a:xfrm>
            <a:off x="635027" y="1570008"/>
            <a:ext cx="11033511" cy="440120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Electric vehicle information is dispersed across multiple automotive sources, making it difficult to obtain a unified view of prices, performance, and efficiency.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Manufacturers, policymakers, and consumers struggle to benchmark EV models due to inconsistent data on range, energy usage, and charging capabilities.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lack of centralized analytics limits understanding of key market dynamics such as pricing trends, technological advancements, and brand competitiveness.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Buyers and sustainability advocates often lack accessible, data-driven insights to compare models and make informed purchasing decisions.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 is a growing need for comprehensive EV analytics to consolidate vehicle data, evaluate efficiency benchmarks, and support strategic decisions in the electric mobility sector.</a:t>
            </a:r>
          </a:p>
        </p:txBody>
      </p:sp>
    </p:spTree>
    <p:extLst>
      <p:ext uri="{BB962C8B-B14F-4D97-AF65-F5344CB8AC3E}">
        <p14:creationId xmlns:p14="http://schemas.microsoft.com/office/powerpoint/2010/main" val="396773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00781" y="430018"/>
            <a:ext cx="2907890" cy="909136"/>
          </a:xfrm>
        </p:spPr>
        <p:txBody>
          <a:bodyPr>
            <a:norm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Objectives</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1015181" y="1639956"/>
            <a:ext cx="9818471" cy="3925957"/>
          </a:xfrm>
        </p:spPr>
        <p:txBody>
          <a:bodyPr>
            <a:noAutofit/>
          </a:bodyPr>
          <a:lstStyle/>
          <a:p>
            <a:pPr algn="just"/>
            <a:r>
              <a:rPr lang="en-US" sz="2000" dirty="0">
                <a:latin typeface="Times New Roman" panose="02020603050405020304" pitchFamily="18" charset="0"/>
                <a:cs typeface="Times New Roman" panose="02020603050405020304" pitchFamily="18" charset="0"/>
              </a:rPr>
              <a:t>To analyze and compare electric vehicle models based on price, driving range, efficiency, and market segment.</a:t>
            </a:r>
          </a:p>
          <a:p>
            <a:pPr algn="just"/>
            <a:r>
              <a:rPr lang="en-US" sz="2000" dirty="0">
                <a:latin typeface="Times New Roman" panose="02020603050405020304" pitchFamily="18" charset="0"/>
                <a:cs typeface="Times New Roman" panose="02020603050405020304" pitchFamily="18" charset="0"/>
              </a:rPr>
              <a:t>To provide data-driven insights that help consumers, manufacturers, and policymakers understand EV performance and market positioning.</a:t>
            </a:r>
          </a:p>
          <a:p>
            <a:pPr algn="just"/>
            <a:r>
              <a:rPr lang="en-US" sz="2000" dirty="0">
                <a:latin typeface="Times New Roman" panose="02020603050405020304" pitchFamily="18" charset="0"/>
                <a:cs typeface="Times New Roman" panose="02020603050405020304" pitchFamily="18" charset="0"/>
              </a:rPr>
              <a:t>To explore brand-wise trends in pricing, energy efficiency, and vehicle types to identify leading manufacturers and innovation patterns.</a:t>
            </a:r>
          </a:p>
          <a:p>
            <a:pPr algn="just"/>
            <a:r>
              <a:rPr lang="en-US" sz="2000" dirty="0">
                <a:latin typeface="Times New Roman" panose="02020603050405020304" pitchFamily="18" charset="0"/>
                <a:cs typeface="Times New Roman" panose="02020603050405020304" pitchFamily="18" charset="0"/>
              </a:rPr>
              <a:t>To study relationships between cost, range, and efficiency, revealing trade-offs and opportunities for improvement in EV design.</a:t>
            </a:r>
          </a:p>
          <a:p>
            <a:pPr algn="just"/>
            <a:r>
              <a:rPr lang="en-US" sz="2000" dirty="0">
                <a:latin typeface="Times New Roman" panose="02020603050405020304" pitchFamily="18" charset="0"/>
                <a:cs typeface="Times New Roman" panose="02020603050405020304" pitchFamily="18" charset="0"/>
              </a:rPr>
              <a:t>To highlight market evolution and adoption patterns, supporting strategic decisions in the transition toward sustainable mobility.</a:t>
            </a:r>
          </a:p>
        </p:txBody>
      </p:sp>
    </p:spTree>
    <p:extLst>
      <p:ext uri="{BB962C8B-B14F-4D97-AF65-F5344CB8AC3E}">
        <p14:creationId xmlns:p14="http://schemas.microsoft.com/office/powerpoint/2010/main" val="399102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DEFC-BBBE-34C7-01CA-C485CED5F05B}"/>
              </a:ext>
            </a:extLst>
          </p:cNvPr>
          <p:cNvSpPr>
            <a:spLocks noGrp="1"/>
          </p:cNvSpPr>
          <p:nvPr>
            <p:ph type="title"/>
          </p:nvPr>
        </p:nvSpPr>
        <p:spPr>
          <a:xfrm>
            <a:off x="838200" y="365126"/>
            <a:ext cx="10412278" cy="529396"/>
          </a:xfrm>
        </p:spPr>
        <p:txBody>
          <a:bodyPr>
            <a:normAutofit/>
          </a:bodyPr>
          <a:lstStyle/>
          <a:p>
            <a:r>
              <a:rPr lang="en-US" sz="3000" b="1" dirty="0">
                <a:latin typeface="Times New Roman" panose="02020603050405020304" pitchFamily="18" charset="0"/>
                <a:cs typeface="Times New Roman" panose="02020603050405020304" pitchFamily="18" charset="0"/>
              </a:rPr>
              <a:t>Columns description:</a:t>
            </a:r>
          </a:p>
        </p:txBody>
      </p:sp>
      <p:pic>
        <p:nvPicPr>
          <p:cNvPr id="6" name="Picture 5">
            <a:extLst>
              <a:ext uri="{FF2B5EF4-FFF2-40B4-BE49-F238E27FC236}">
                <a16:creationId xmlns:a16="http://schemas.microsoft.com/office/drawing/2014/main" id="{0965801A-ACE3-9B5C-4EB0-5BCBB6C6D48B}"/>
              </a:ext>
            </a:extLst>
          </p:cNvPr>
          <p:cNvPicPr>
            <a:picLocks noChangeAspect="1"/>
          </p:cNvPicPr>
          <p:nvPr/>
        </p:nvPicPr>
        <p:blipFill>
          <a:blip r:embed="rId2"/>
          <a:stretch>
            <a:fillRect/>
          </a:stretch>
        </p:blipFill>
        <p:spPr>
          <a:xfrm>
            <a:off x="571809" y="848365"/>
            <a:ext cx="10412278" cy="4949687"/>
          </a:xfrm>
          <a:prstGeom prst="rect">
            <a:avLst/>
          </a:prstGeom>
        </p:spPr>
      </p:pic>
    </p:spTree>
    <p:extLst>
      <p:ext uri="{BB962C8B-B14F-4D97-AF65-F5344CB8AC3E}">
        <p14:creationId xmlns:p14="http://schemas.microsoft.com/office/powerpoint/2010/main" val="3421792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7014" y="4114801"/>
            <a:ext cx="3190875" cy="1228726"/>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9775" y="2637482"/>
            <a:ext cx="4019550" cy="12287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5777" y="1381892"/>
            <a:ext cx="3267075"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01F2FE5-DCF2-A93C-9955-9D88BA5A0199}"/>
              </a:ext>
            </a:extLst>
          </p:cNvPr>
          <p:cNvPicPr>
            <a:picLocks noChangeAspect="1"/>
          </p:cNvPicPr>
          <p:nvPr/>
        </p:nvPicPr>
        <p:blipFill>
          <a:blip r:embed="rId7"/>
          <a:stretch>
            <a:fillRect/>
          </a:stretch>
        </p:blipFill>
        <p:spPr>
          <a:xfrm>
            <a:off x="2333625" y="5592121"/>
            <a:ext cx="3371850" cy="967705"/>
          </a:xfrm>
          <a:prstGeom prst="rect">
            <a:avLst/>
          </a:prstGeom>
        </p:spPr>
      </p:pic>
      <p:pic>
        <p:nvPicPr>
          <p:cNvPr id="7"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4326" y="1560443"/>
            <a:ext cx="3930769" cy="1319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4"/>
                                        </p:tgtEl>
                                        <p:attrNameLst>
                                          <p:attrName>style.visibility</p:attrName>
                                        </p:attrNameLst>
                                      </p:cBhvr>
                                      <p:to>
                                        <p:strVal val="visible"/>
                                      </p:to>
                                    </p:set>
                                    <p:animEffect transition="in" filter="barn(inVertical)">
                                      <p:cBhvr>
                                        <p:cTn id="7" dur="500"/>
                                        <p:tgtEl>
                                          <p:spTgt spid="308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82"/>
                                        </p:tgtEl>
                                        <p:attrNameLst>
                                          <p:attrName>style.visibility</p:attrName>
                                        </p:attrNameLst>
                                      </p:cBhvr>
                                      <p:to>
                                        <p:strVal val="visible"/>
                                      </p:to>
                                    </p:set>
                                    <p:animEffect transition="in" filter="barn(inVertical)">
                                      <p:cBhvr>
                                        <p:cTn id="12" dur="500"/>
                                        <p:tgtEl>
                                          <p:spTgt spid="30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arn(inVertic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086"/>
                                        </p:tgtEl>
                                        <p:attrNameLst>
                                          <p:attrName>style.visibility</p:attrName>
                                        </p:attrNameLst>
                                      </p:cBhvr>
                                      <p:to>
                                        <p:strVal val="visible"/>
                                      </p:to>
                                    </p:set>
                                    <p:animEffect transition="in" filter="barn(inVertical)">
                                      <p:cBhvr>
                                        <p:cTn id="27" dur="500"/>
                                        <p:tgtEl>
                                          <p:spTgt spid="308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7C2FF-0E30-9333-2E32-F6B578C63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88F36-FD5F-7A0E-BAB3-80E24F241FB0}"/>
              </a:ext>
            </a:extLst>
          </p:cNvPr>
          <p:cNvSpPr>
            <a:spLocks noGrp="1"/>
          </p:cNvSpPr>
          <p:nvPr>
            <p:ph type="title"/>
          </p:nvPr>
        </p:nvSpPr>
        <p:spPr>
          <a:xfrm>
            <a:off x="584036" y="249722"/>
            <a:ext cx="5008061" cy="723672"/>
          </a:xfrm>
        </p:spPr>
        <p:txBody>
          <a:bodyPr>
            <a:norm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id="{F128294B-F636-5924-00EB-8E3D87FA7885}"/>
              </a:ext>
            </a:extLst>
          </p:cNvPr>
          <p:cNvSpPr txBox="1"/>
          <p:nvPr/>
        </p:nvSpPr>
        <p:spPr>
          <a:xfrm>
            <a:off x="796859" y="973394"/>
            <a:ext cx="6155146" cy="532453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Checked for missing and null values on the entire data frame. Found no missing and null values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Moved onto further steps like removing inconsistencies like having text values or special characters in numeric columns which prevents type conversion of numeric columns into int or float from object data type.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regex to remove special characters from numerical and categorical columns. And for text values in numerical columns like N/A, unknown which were present right from data extraction from the source, used replace method and filled np.NaN and after that filled  those </a:t>
            </a:r>
            <a:r>
              <a:rPr lang="en-US" sz="2000" dirty="0" err="1">
                <a:latin typeface="Times New Roman" panose="02020603050405020304" pitchFamily="18" charset="0"/>
                <a:cs typeface="Times New Roman" panose="02020603050405020304" pitchFamily="18" charset="0"/>
              </a:rPr>
              <a:t>NaN</a:t>
            </a:r>
            <a:r>
              <a:rPr lang="en-US" sz="2000" dirty="0">
                <a:latin typeface="Times New Roman" panose="02020603050405020304" pitchFamily="18" charset="0"/>
                <a:cs typeface="Times New Roman" panose="02020603050405020304" pitchFamily="18" charset="0"/>
              </a:rPr>
              <a:t> values with median by checking skewness on particular columns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C2220EC-0248-91A8-19D6-C3AA53C57774}"/>
              </a:ext>
            </a:extLst>
          </p:cNvPr>
          <p:cNvPicPr>
            <a:picLocks noChangeAspect="1"/>
          </p:cNvPicPr>
          <p:nvPr/>
        </p:nvPicPr>
        <p:blipFill>
          <a:blip r:embed="rId2"/>
          <a:stretch>
            <a:fillRect/>
          </a:stretch>
        </p:blipFill>
        <p:spPr>
          <a:xfrm>
            <a:off x="6952005" y="1980170"/>
            <a:ext cx="4905375" cy="2038635"/>
          </a:xfrm>
          <a:prstGeom prst="rect">
            <a:avLst/>
          </a:prstGeom>
        </p:spPr>
      </p:pic>
      <p:pic>
        <p:nvPicPr>
          <p:cNvPr id="10" name="Picture 9">
            <a:extLst>
              <a:ext uri="{FF2B5EF4-FFF2-40B4-BE49-F238E27FC236}">
                <a16:creationId xmlns:a16="http://schemas.microsoft.com/office/drawing/2014/main" id="{E43E7C3E-8EEC-519B-7891-ECA95BC9B38B}"/>
              </a:ext>
            </a:extLst>
          </p:cNvPr>
          <p:cNvPicPr>
            <a:picLocks noChangeAspect="1"/>
          </p:cNvPicPr>
          <p:nvPr/>
        </p:nvPicPr>
        <p:blipFill>
          <a:blip r:embed="rId3"/>
          <a:stretch>
            <a:fillRect/>
          </a:stretch>
        </p:blipFill>
        <p:spPr>
          <a:xfrm>
            <a:off x="6952006" y="325603"/>
            <a:ext cx="4905375" cy="1557556"/>
          </a:xfrm>
          <a:prstGeom prst="rect">
            <a:avLst/>
          </a:prstGeom>
        </p:spPr>
      </p:pic>
      <p:pic>
        <p:nvPicPr>
          <p:cNvPr id="12" name="Picture 11">
            <a:extLst>
              <a:ext uri="{FF2B5EF4-FFF2-40B4-BE49-F238E27FC236}">
                <a16:creationId xmlns:a16="http://schemas.microsoft.com/office/drawing/2014/main" id="{D42DEAB6-7352-1194-D332-3BDB7C0EAEB3}"/>
              </a:ext>
            </a:extLst>
          </p:cNvPr>
          <p:cNvPicPr>
            <a:picLocks noChangeAspect="1"/>
          </p:cNvPicPr>
          <p:nvPr/>
        </p:nvPicPr>
        <p:blipFill>
          <a:blip r:embed="rId4"/>
          <a:stretch>
            <a:fillRect/>
          </a:stretch>
        </p:blipFill>
        <p:spPr>
          <a:xfrm>
            <a:off x="6952005" y="4115816"/>
            <a:ext cx="4905375" cy="1819529"/>
          </a:xfrm>
          <a:prstGeom prst="rect">
            <a:avLst/>
          </a:prstGeom>
        </p:spPr>
      </p:pic>
    </p:spTree>
    <p:extLst>
      <p:ext uri="{BB962C8B-B14F-4D97-AF65-F5344CB8AC3E}">
        <p14:creationId xmlns:p14="http://schemas.microsoft.com/office/powerpoint/2010/main" val="426747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1AB0-F06E-4730-D917-DE2C8C930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880E7-D37C-3844-845D-ED772A5F0070}"/>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913AAB71-DB05-87DA-4BA6-DC3C1D972DAC}"/>
              </a:ext>
            </a:extLst>
          </p:cNvPr>
          <p:cNvSpPr txBox="1"/>
          <p:nvPr/>
        </p:nvSpPr>
        <p:spPr>
          <a:xfrm>
            <a:off x="765313" y="2087218"/>
            <a:ext cx="4943433" cy="347787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Histogram tells us the distribution of price of car in Euros </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of the cars priced between 45k-60k Euros targeting budget/Entry level customers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are very a smaller number of cars priced above 200k-350k Euros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A157CA6-D85E-DD24-1259-F44A5F9060F0}"/>
              </a:ext>
            </a:extLst>
          </p:cNvPr>
          <p:cNvPicPr>
            <a:picLocks noChangeAspect="1"/>
          </p:cNvPicPr>
          <p:nvPr/>
        </p:nvPicPr>
        <p:blipFill>
          <a:blip r:embed="rId2"/>
          <a:stretch>
            <a:fillRect/>
          </a:stretch>
        </p:blipFill>
        <p:spPr>
          <a:xfrm>
            <a:off x="5903844" y="627603"/>
            <a:ext cx="6288156" cy="5169650"/>
          </a:xfrm>
          <a:prstGeom prst="rect">
            <a:avLst/>
          </a:prstGeom>
        </p:spPr>
      </p:pic>
      <p:sp>
        <p:nvSpPr>
          <p:cNvPr id="7" name="Title 1">
            <a:extLst>
              <a:ext uri="{FF2B5EF4-FFF2-40B4-BE49-F238E27FC236}">
                <a16:creationId xmlns:a16="http://schemas.microsoft.com/office/drawing/2014/main" id="{B8FBD9B7-61EA-C9FB-6AEA-B38F0883DCDE}"/>
              </a:ext>
            </a:extLst>
          </p:cNvPr>
          <p:cNvSpPr txBox="1">
            <a:spLocks/>
          </p:cNvSpPr>
          <p:nvPr/>
        </p:nvSpPr>
        <p:spPr>
          <a:xfrm rot="10800000" flipV="1">
            <a:off x="152400" y="1121757"/>
            <a:ext cx="5402943" cy="7368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1.1 Univariate Analysis - Histogram</a:t>
            </a:r>
          </a:p>
        </p:txBody>
      </p:sp>
    </p:spTree>
    <p:extLst>
      <p:ext uri="{BB962C8B-B14F-4D97-AF65-F5344CB8AC3E}">
        <p14:creationId xmlns:p14="http://schemas.microsoft.com/office/powerpoint/2010/main" val="326413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F05C-59F6-ABD2-D4BF-2DDEE36E2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AA1A5-AC0C-BCAC-E4DA-053DB5670F2E}"/>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Title 1">
            <a:extLst>
              <a:ext uri="{FF2B5EF4-FFF2-40B4-BE49-F238E27FC236}">
                <a16:creationId xmlns:a16="http://schemas.microsoft.com/office/drawing/2014/main" id="{BCD4101C-73A5-2DB5-1409-3D2760F764FB}"/>
              </a:ext>
            </a:extLst>
          </p:cNvPr>
          <p:cNvSpPr txBox="1">
            <a:spLocks/>
          </p:cNvSpPr>
          <p:nvPr/>
        </p:nvSpPr>
        <p:spPr>
          <a:xfrm rot="10800000" flipV="1">
            <a:off x="152400" y="1121757"/>
            <a:ext cx="5402943" cy="7368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1.2 Univariate Analysis- Boxplot</a:t>
            </a:r>
          </a:p>
        </p:txBody>
      </p:sp>
      <p:sp>
        <p:nvSpPr>
          <p:cNvPr id="6" name="TextBox 5">
            <a:extLst>
              <a:ext uri="{FF2B5EF4-FFF2-40B4-BE49-F238E27FC236}">
                <a16:creationId xmlns:a16="http://schemas.microsoft.com/office/drawing/2014/main" id="{BACA294D-D03A-2BF8-2186-F46B76740C8F}"/>
              </a:ext>
            </a:extLst>
          </p:cNvPr>
          <p:cNvSpPr txBox="1"/>
          <p:nvPr/>
        </p:nvSpPr>
        <p:spPr>
          <a:xfrm>
            <a:off x="765313" y="2087218"/>
            <a:ext cx="4943433" cy="255454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Here we are using box plot to visualize the distribution of numerical data i.e., car price in Germany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Like the presence of extreme price values  in the column. As we can see there are some extreme points on the right side due to which box plot got squeezed to left side </a:t>
            </a:r>
          </a:p>
        </p:txBody>
      </p:sp>
      <p:pic>
        <p:nvPicPr>
          <p:cNvPr id="8" name="Picture 7">
            <a:extLst>
              <a:ext uri="{FF2B5EF4-FFF2-40B4-BE49-F238E27FC236}">
                <a16:creationId xmlns:a16="http://schemas.microsoft.com/office/drawing/2014/main" id="{639E9FFA-47FB-D86C-168F-F59F21752D9F}"/>
              </a:ext>
            </a:extLst>
          </p:cNvPr>
          <p:cNvPicPr>
            <a:picLocks noChangeAspect="1"/>
          </p:cNvPicPr>
          <p:nvPr/>
        </p:nvPicPr>
        <p:blipFill>
          <a:blip r:embed="rId2"/>
          <a:stretch>
            <a:fillRect/>
          </a:stretch>
        </p:blipFill>
        <p:spPr>
          <a:xfrm>
            <a:off x="5708746" y="433462"/>
            <a:ext cx="6483254" cy="5268060"/>
          </a:xfrm>
          <a:prstGeom prst="rect">
            <a:avLst/>
          </a:prstGeom>
        </p:spPr>
      </p:pic>
      <p:pic>
        <p:nvPicPr>
          <p:cNvPr id="13" name="Picture 12">
            <a:extLst>
              <a:ext uri="{FF2B5EF4-FFF2-40B4-BE49-F238E27FC236}">
                <a16:creationId xmlns:a16="http://schemas.microsoft.com/office/drawing/2014/main" id="{21B62DB9-F2BC-9989-B574-072B0ED13B4E}"/>
              </a:ext>
            </a:extLst>
          </p:cNvPr>
          <p:cNvPicPr>
            <a:picLocks noChangeAspect="1"/>
          </p:cNvPicPr>
          <p:nvPr/>
        </p:nvPicPr>
        <p:blipFill>
          <a:blip r:embed="rId3"/>
          <a:stretch>
            <a:fillRect/>
          </a:stretch>
        </p:blipFill>
        <p:spPr>
          <a:xfrm>
            <a:off x="5987112" y="662062"/>
            <a:ext cx="5525271" cy="247685"/>
          </a:xfrm>
          <a:prstGeom prst="rect">
            <a:avLst/>
          </a:prstGeom>
        </p:spPr>
      </p:pic>
    </p:spTree>
    <p:extLst>
      <p:ext uri="{BB962C8B-B14F-4D97-AF65-F5344CB8AC3E}">
        <p14:creationId xmlns:p14="http://schemas.microsoft.com/office/powerpoint/2010/main" val="80441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78D8D-C433-F730-6325-363E767B7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CFC8F-CAA7-ED32-5C5C-08B2B376B119}"/>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Title 1">
            <a:extLst>
              <a:ext uri="{FF2B5EF4-FFF2-40B4-BE49-F238E27FC236}">
                <a16:creationId xmlns:a16="http://schemas.microsoft.com/office/drawing/2014/main" id="{DD1DFE49-6B95-1D99-9047-18EB3F7AAF33}"/>
              </a:ext>
            </a:extLst>
          </p:cNvPr>
          <p:cNvSpPr txBox="1">
            <a:spLocks/>
          </p:cNvSpPr>
          <p:nvPr/>
        </p:nvSpPr>
        <p:spPr>
          <a:xfrm rot="10800000" flipV="1">
            <a:off x="152400" y="1121757"/>
            <a:ext cx="5402943" cy="7368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1.3 Univariate Analysis- pie chart</a:t>
            </a:r>
          </a:p>
        </p:txBody>
      </p:sp>
      <p:pic>
        <p:nvPicPr>
          <p:cNvPr id="4" name="Picture 3">
            <a:extLst>
              <a:ext uri="{FF2B5EF4-FFF2-40B4-BE49-F238E27FC236}">
                <a16:creationId xmlns:a16="http://schemas.microsoft.com/office/drawing/2014/main" id="{AD6801FF-4C5C-BEE7-38FE-65E43189D492}"/>
              </a:ext>
            </a:extLst>
          </p:cNvPr>
          <p:cNvPicPr>
            <a:picLocks noChangeAspect="1"/>
          </p:cNvPicPr>
          <p:nvPr/>
        </p:nvPicPr>
        <p:blipFill>
          <a:blip r:embed="rId2"/>
          <a:srcRect/>
          <a:stretch/>
        </p:blipFill>
        <p:spPr>
          <a:xfrm>
            <a:off x="5708746" y="586409"/>
            <a:ext cx="6098941" cy="5013843"/>
          </a:xfrm>
          <a:prstGeom prst="rect">
            <a:avLst/>
          </a:prstGeom>
        </p:spPr>
      </p:pic>
      <p:sp>
        <p:nvSpPr>
          <p:cNvPr id="3" name="TextBox 2">
            <a:extLst>
              <a:ext uri="{FF2B5EF4-FFF2-40B4-BE49-F238E27FC236}">
                <a16:creationId xmlns:a16="http://schemas.microsoft.com/office/drawing/2014/main" id="{ED632814-A603-CADF-8789-71DBEAFABA00}"/>
              </a:ext>
            </a:extLst>
          </p:cNvPr>
          <p:cNvSpPr txBox="1"/>
          <p:nvPr/>
        </p:nvSpPr>
        <p:spPr>
          <a:xfrm>
            <a:off x="765313" y="2087218"/>
            <a:ext cx="4943433" cy="317009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Pie chart showing how the different car brands share the overall segment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Mercedes has 110 cars by count, Tesla  has 84, Volkswagen  82, Audi 59, and Porsche 57</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are about 74 Car brands available in our  dataset but for now we’re considering only top 5</a:t>
            </a:r>
          </a:p>
        </p:txBody>
      </p:sp>
    </p:spTree>
    <p:extLst>
      <p:ext uri="{BB962C8B-B14F-4D97-AF65-F5344CB8AC3E}">
        <p14:creationId xmlns:p14="http://schemas.microsoft.com/office/powerpoint/2010/main" val="109110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D2FB2-F018-F12D-1202-3C90A2C0D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1A3AB-BA17-10C7-85BD-BEE6BF636177}"/>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Title 1">
            <a:extLst>
              <a:ext uri="{FF2B5EF4-FFF2-40B4-BE49-F238E27FC236}">
                <a16:creationId xmlns:a16="http://schemas.microsoft.com/office/drawing/2014/main" id="{D140DC92-3994-4B08-16E6-53E0D6C04C8F}"/>
              </a:ext>
            </a:extLst>
          </p:cNvPr>
          <p:cNvSpPr txBox="1">
            <a:spLocks/>
          </p:cNvSpPr>
          <p:nvPr/>
        </p:nvSpPr>
        <p:spPr>
          <a:xfrm rot="10800000" flipV="1">
            <a:off x="152400" y="1121757"/>
            <a:ext cx="5402943" cy="7368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2.1 Bivariate Analysis- pie chart</a:t>
            </a:r>
          </a:p>
        </p:txBody>
      </p:sp>
      <p:pic>
        <p:nvPicPr>
          <p:cNvPr id="4" name="Picture 3">
            <a:extLst>
              <a:ext uri="{FF2B5EF4-FFF2-40B4-BE49-F238E27FC236}">
                <a16:creationId xmlns:a16="http://schemas.microsoft.com/office/drawing/2014/main" id="{FD0F1787-D0C6-0E17-55A0-21DA4F594D04}"/>
              </a:ext>
            </a:extLst>
          </p:cNvPr>
          <p:cNvPicPr>
            <a:picLocks noChangeAspect="1"/>
          </p:cNvPicPr>
          <p:nvPr/>
        </p:nvPicPr>
        <p:blipFill>
          <a:blip r:embed="rId2"/>
          <a:srcRect/>
          <a:stretch/>
        </p:blipFill>
        <p:spPr>
          <a:xfrm>
            <a:off x="5708746" y="915137"/>
            <a:ext cx="6098941" cy="4356386"/>
          </a:xfrm>
          <a:prstGeom prst="rect">
            <a:avLst/>
          </a:prstGeom>
        </p:spPr>
      </p:pic>
      <p:sp>
        <p:nvSpPr>
          <p:cNvPr id="3" name="TextBox 2">
            <a:extLst>
              <a:ext uri="{FF2B5EF4-FFF2-40B4-BE49-F238E27FC236}">
                <a16:creationId xmlns:a16="http://schemas.microsoft.com/office/drawing/2014/main" id="{B534802F-E5B0-2A33-CC6C-1CB1EF58F258}"/>
              </a:ext>
            </a:extLst>
          </p:cNvPr>
          <p:cNvSpPr txBox="1"/>
          <p:nvPr/>
        </p:nvSpPr>
        <p:spPr>
          <a:xfrm>
            <a:off x="675861" y="1858618"/>
            <a:ext cx="4976661" cy="4401205"/>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Battery capacity and range are linearly correlated.</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larger battery means the vehicle can supply power for a longer time, allowing it to travel farther before needing a recharge.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the relationship is not perfectly linear because range also depends on factors like Vehicle weight, Motor efficiency, Aerodynamics, and Driving conditions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07936CF-2B63-262F-6A0E-0F7FB7E1315E}"/>
              </a:ext>
            </a:extLst>
          </p:cNvPr>
          <p:cNvPicPr>
            <a:picLocks noChangeAspect="1"/>
          </p:cNvPicPr>
          <p:nvPr/>
        </p:nvPicPr>
        <p:blipFill>
          <a:blip r:embed="rId3"/>
          <a:stretch>
            <a:fillRect/>
          </a:stretch>
        </p:blipFill>
        <p:spPr>
          <a:xfrm>
            <a:off x="6539480" y="5122436"/>
            <a:ext cx="3724795" cy="1114581"/>
          </a:xfrm>
          <a:prstGeom prst="rect">
            <a:avLst/>
          </a:prstGeom>
        </p:spPr>
      </p:pic>
    </p:spTree>
    <p:extLst>
      <p:ext uri="{BB962C8B-B14F-4D97-AF65-F5344CB8AC3E}">
        <p14:creationId xmlns:p14="http://schemas.microsoft.com/office/powerpoint/2010/main" val="399481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153DF-2688-6C6E-2772-33D722FCE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020BD-A0D2-EABC-567C-AAAAD66E2A0F}"/>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Title 1">
            <a:extLst>
              <a:ext uri="{FF2B5EF4-FFF2-40B4-BE49-F238E27FC236}">
                <a16:creationId xmlns:a16="http://schemas.microsoft.com/office/drawing/2014/main" id="{C7619F8B-F3F6-5961-123A-B71DB4035F90}"/>
              </a:ext>
            </a:extLst>
          </p:cNvPr>
          <p:cNvSpPr txBox="1">
            <a:spLocks/>
          </p:cNvSpPr>
          <p:nvPr/>
        </p:nvSpPr>
        <p:spPr>
          <a:xfrm rot="10800000" flipV="1">
            <a:off x="152400" y="1121757"/>
            <a:ext cx="5402943" cy="7368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2.2 Bivariate Analysis-Bar chart</a:t>
            </a:r>
          </a:p>
        </p:txBody>
      </p:sp>
      <p:pic>
        <p:nvPicPr>
          <p:cNvPr id="4" name="Picture 3">
            <a:extLst>
              <a:ext uri="{FF2B5EF4-FFF2-40B4-BE49-F238E27FC236}">
                <a16:creationId xmlns:a16="http://schemas.microsoft.com/office/drawing/2014/main" id="{53972C53-2844-2B3E-0612-1DCC6E34CCFA}"/>
              </a:ext>
            </a:extLst>
          </p:cNvPr>
          <p:cNvPicPr>
            <a:picLocks noChangeAspect="1"/>
          </p:cNvPicPr>
          <p:nvPr/>
        </p:nvPicPr>
        <p:blipFill>
          <a:blip r:embed="rId2"/>
          <a:srcRect/>
          <a:stretch/>
        </p:blipFill>
        <p:spPr>
          <a:xfrm>
            <a:off x="5708746" y="715617"/>
            <a:ext cx="6098941" cy="5416826"/>
          </a:xfrm>
          <a:prstGeom prst="rect">
            <a:avLst/>
          </a:prstGeom>
        </p:spPr>
      </p:pic>
      <p:sp>
        <p:nvSpPr>
          <p:cNvPr id="3" name="TextBox 2">
            <a:extLst>
              <a:ext uri="{FF2B5EF4-FFF2-40B4-BE49-F238E27FC236}">
                <a16:creationId xmlns:a16="http://schemas.microsoft.com/office/drawing/2014/main" id="{53B10134-BAF9-55F8-91F1-B9BC5A8FC02B}"/>
              </a:ext>
            </a:extLst>
          </p:cNvPr>
          <p:cNvSpPr txBox="1"/>
          <p:nvPr/>
        </p:nvSpPr>
        <p:spPr>
          <a:xfrm>
            <a:off x="675861" y="1858618"/>
            <a:ext cx="4976661" cy="378565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Brands like Lynk, Jaecoo, Leapmotor, and TOGG have the lowest price per km, meaning they offer more cost-efficient driving. it means they offer better mileage (higher efficiency) — in other words, you spend less money per kilometer traveled</a:t>
            </a:r>
            <a:r>
              <a:rPr lang="en-US" sz="2000" dirty="0"/>
              <a: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High-end brands appear toward the right (higher Price_per_km).</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EE5C0-4C38-DE37-5960-C250CDF3D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1EFBB-6837-C8F3-D5DD-9D5A387A29EB}"/>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Title 1">
            <a:extLst>
              <a:ext uri="{FF2B5EF4-FFF2-40B4-BE49-F238E27FC236}">
                <a16:creationId xmlns:a16="http://schemas.microsoft.com/office/drawing/2014/main" id="{5EE3A568-486F-3980-00E8-BD86586A7898}"/>
              </a:ext>
            </a:extLst>
          </p:cNvPr>
          <p:cNvSpPr txBox="1">
            <a:spLocks/>
          </p:cNvSpPr>
          <p:nvPr/>
        </p:nvSpPr>
        <p:spPr>
          <a:xfrm rot="10800000" flipV="1">
            <a:off x="152400" y="1121757"/>
            <a:ext cx="5402943" cy="7368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3.1 multivariate Analysis- Heatmap</a:t>
            </a:r>
          </a:p>
        </p:txBody>
      </p:sp>
      <p:pic>
        <p:nvPicPr>
          <p:cNvPr id="8" name="Picture 7">
            <a:extLst>
              <a:ext uri="{FF2B5EF4-FFF2-40B4-BE49-F238E27FC236}">
                <a16:creationId xmlns:a16="http://schemas.microsoft.com/office/drawing/2014/main" id="{FCAA7915-9593-B90B-F775-84BF30C4BCA7}"/>
              </a:ext>
            </a:extLst>
          </p:cNvPr>
          <p:cNvPicPr>
            <a:picLocks noChangeAspect="1"/>
          </p:cNvPicPr>
          <p:nvPr/>
        </p:nvPicPr>
        <p:blipFill>
          <a:blip r:embed="rId2"/>
          <a:stretch>
            <a:fillRect/>
          </a:stretch>
        </p:blipFill>
        <p:spPr>
          <a:xfrm>
            <a:off x="5555344" y="156706"/>
            <a:ext cx="6636656" cy="591610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9B6EAC-86E5-3868-5F60-6D99683DE69D}"/>
                  </a:ext>
                </a:extLst>
              </p:cNvPr>
              <p:cNvSpPr txBox="1"/>
              <p:nvPr/>
            </p:nvSpPr>
            <p:spPr>
              <a:xfrm>
                <a:off x="228600" y="1719470"/>
                <a:ext cx="5479144" cy="4524315"/>
              </a:xfrm>
              <a:prstGeom prst="rect">
                <a:avLst/>
              </a:prstGeom>
              <a:noFill/>
            </p:spPr>
            <p:txBody>
              <a:bodyPr wrap="square">
                <a:spAutoFit/>
              </a:bodyPr>
              <a:lstStyle/>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Correlation matrix or Heatmap showing the correlation of one numeric variable with another </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Long_distance_total(Km) and Fast_charge(KW)</a:t>
                </a:r>
                <a:br>
                  <a:rPr lang="en-US" sz="1800" dirty="0">
                    <a:latin typeface="Times New Roman" panose="02020603050405020304" pitchFamily="18" charset="0"/>
                    <a:cs typeface="Times New Roman" panose="02020603050405020304" pitchFamily="18" charset="0"/>
                  </a:rPr>
                </a:br>
                <a14:m>
                  <m:oMath xmlns:m="http://schemas.openxmlformats.org/officeDocument/2006/math">
                    <m:r>
                      <a:rPr lang="en-US" sz="1800" b="0" i="1">
                        <a:latin typeface="Cambria Math" panose="02040503050406030204" pitchFamily="18" charset="0"/>
                      </a:rPr>
                      <m:t>𝑟</m:t>
                    </m:r>
                    <m:r>
                      <a:rPr lang="en-US" sz="1800" b="0">
                        <a:latin typeface="Cambria Math" panose="02040503050406030204" pitchFamily="18" charset="0"/>
                      </a:rPr>
                      <m:t>=1.00</m:t>
                    </m:r>
                  </m:oMath>
                </a14:m>
                <a:r>
                  <a:rPr lang="en-US" sz="1800" dirty="0">
                    <a:latin typeface="Times New Roman" panose="02020603050405020304" pitchFamily="18" charset="0"/>
                    <a:cs typeface="Times New Roman" panose="02020603050405020304" pitchFamily="18" charset="0"/>
                  </a:rPr>
                  <a:t> → Perfect positive correlation.</a:t>
                </a:r>
              </a:p>
              <a:p>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Long_distance_total(Km) and Charging_Speed_km_per_min   </a:t>
                </a:r>
                <a14:m>
                  <m:oMath xmlns:m="http://schemas.openxmlformats.org/officeDocument/2006/math">
                    <m:r>
                      <a:rPr lang="en-US" sz="1800" b="0" i="1">
                        <a:latin typeface="Cambria Math" panose="02040503050406030204" pitchFamily="18" charset="0"/>
                      </a:rPr>
                      <m:t>𝑟</m:t>
                    </m:r>
                    <m:r>
                      <a:rPr lang="en-US" sz="1800" b="0">
                        <a:latin typeface="Cambria Math" panose="02040503050406030204" pitchFamily="18" charset="0"/>
                      </a:rPr>
                      <m:t>=0.96</m:t>
                    </m:r>
                  </m:oMath>
                </a14:m>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Fast_charge(KW) and Charging_Speed_km_per_min            </a:t>
                </a:r>
                <a14:m>
                  <m:oMath xmlns:m="http://schemas.openxmlformats.org/officeDocument/2006/math">
                    <m:r>
                      <a:rPr lang="en-US" sz="1800" b="0" i="1">
                        <a:latin typeface="Cambria Math" panose="02040503050406030204" pitchFamily="18" charset="0"/>
                      </a:rPr>
                      <m:t>𝑟</m:t>
                    </m:r>
                    <m:r>
                      <a:rPr lang="en-US" sz="1800" b="0">
                        <a:latin typeface="Cambria Math" panose="02040503050406030204" pitchFamily="18" charset="0"/>
                      </a:rPr>
                      <m:t>=0.96</m:t>
                    </m:r>
                  </m:oMath>
                </a14:m>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Efficiency (Wh/km) and Range_per_kWh</a:t>
                </a:r>
                <a:br>
                  <a:rPr lang="en-US" sz="1800" dirty="0">
                    <a:latin typeface="Times New Roman" panose="02020603050405020304" pitchFamily="18" charset="0"/>
                    <a:cs typeface="Times New Roman" panose="02020603050405020304" pitchFamily="18" charset="0"/>
                  </a:rPr>
                </a:br>
                <a14:m>
                  <m:oMath xmlns:m="http://schemas.openxmlformats.org/officeDocument/2006/math">
                    <m:r>
                      <a:rPr lang="en-US" sz="1800" b="0" i="1">
                        <a:latin typeface="Cambria Math" panose="02040503050406030204" pitchFamily="18" charset="0"/>
                      </a:rPr>
                      <m:t>𝑟</m:t>
                    </m:r>
                    <m:r>
                      <a:rPr lang="en-US" sz="1800" b="0">
                        <a:latin typeface="Cambria Math" panose="02040503050406030204" pitchFamily="18" charset="0"/>
                      </a:rPr>
                      <m:t>=−0.98</m:t>
                    </m:r>
                  </m:oMath>
                </a14:m>
                <a:r>
                  <a:rPr lang="en-US" sz="1800" dirty="0">
                    <a:latin typeface="Times New Roman" panose="02020603050405020304" pitchFamily="18" charset="0"/>
                    <a:cs typeface="Times New Roman" panose="02020603050405020304" pitchFamily="18" charset="0"/>
                  </a:rPr>
                  <a:t> → Very strong negative correlation.</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D19B6EAC-86E5-3868-5F60-6D99683DE69D}"/>
                  </a:ext>
                </a:extLst>
              </p:cNvPr>
              <p:cNvSpPr txBox="1">
                <a:spLocks noRot="1" noChangeAspect="1" noMove="1" noResize="1" noEditPoints="1" noAdjustHandles="1" noChangeArrowheads="1" noChangeShapeType="1" noTextEdit="1"/>
              </p:cNvSpPr>
              <p:nvPr/>
            </p:nvSpPr>
            <p:spPr>
              <a:xfrm>
                <a:off x="228600" y="1719470"/>
                <a:ext cx="5479144" cy="4524315"/>
              </a:xfrm>
              <a:prstGeom prst="rect">
                <a:avLst/>
              </a:prstGeom>
              <a:blipFill>
                <a:blip r:embed="rId3"/>
                <a:stretch>
                  <a:fillRect l="-780" t="-674" r="-12361"/>
                </a:stretch>
              </a:blipFill>
            </p:spPr>
            <p:txBody>
              <a:bodyPr/>
              <a:lstStyle/>
              <a:p>
                <a:r>
                  <a:rPr lang="en-US">
                    <a:noFill/>
                  </a:rPr>
                  <a:t> </a:t>
                </a:r>
              </a:p>
            </p:txBody>
          </p:sp>
        </mc:Fallback>
      </mc:AlternateContent>
    </p:spTree>
    <p:extLst>
      <p:ext uri="{BB962C8B-B14F-4D97-AF65-F5344CB8AC3E}">
        <p14:creationId xmlns:p14="http://schemas.microsoft.com/office/powerpoint/2010/main" val="225057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D4746-2592-1C5C-3218-DA0A5FD01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3A31F-B749-4989-87D6-EB47F6A245EA}"/>
              </a:ext>
            </a:extLst>
          </p:cNvPr>
          <p:cNvSpPr>
            <a:spLocks noGrp="1"/>
          </p:cNvSpPr>
          <p:nvPr>
            <p:ph type="title"/>
          </p:nvPr>
        </p:nvSpPr>
        <p:spPr>
          <a:xfrm>
            <a:off x="0" y="354768"/>
            <a:ext cx="5402943" cy="614589"/>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Title 1">
            <a:extLst>
              <a:ext uri="{FF2B5EF4-FFF2-40B4-BE49-F238E27FC236}">
                <a16:creationId xmlns:a16="http://schemas.microsoft.com/office/drawing/2014/main" id="{CBD430A8-3A9A-369B-A1BC-2DCCE93816DF}"/>
              </a:ext>
            </a:extLst>
          </p:cNvPr>
          <p:cNvSpPr txBox="1">
            <a:spLocks/>
          </p:cNvSpPr>
          <p:nvPr/>
        </p:nvSpPr>
        <p:spPr>
          <a:xfrm rot="10800000" flipV="1">
            <a:off x="152398" y="969357"/>
            <a:ext cx="5402943" cy="61458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2500" b="1" dirty="0">
                <a:solidFill>
                  <a:schemeClr val="tx1"/>
                </a:solidFill>
                <a:latin typeface="Times New Roman" panose="02020603050405020304" pitchFamily="18" charset="0"/>
                <a:cs typeface="Times New Roman" panose="02020603050405020304" pitchFamily="18" charset="0"/>
              </a:rPr>
              <a:t>3.2 multivariate Analysis- Scatter plot</a:t>
            </a:r>
          </a:p>
        </p:txBody>
      </p:sp>
      <p:pic>
        <p:nvPicPr>
          <p:cNvPr id="8" name="Picture 7">
            <a:extLst>
              <a:ext uri="{FF2B5EF4-FFF2-40B4-BE49-F238E27FC236}">
                <a16:creationId xmlns:a16="http://schemas.microsoft.com/office/drawing/2014/main" id="{EF67402B-BE18-CA61-C1F7-7088BD3BBA2E}"/>
              </a:ext>
            </a:extLst>
          </p:cNvPr>
          <p:cNvPicPr>
            <a:picLocks noChangeAspect="1"/>
          </p:cNvPicPr>
          <p:nvPr/>
        </p:nvPicPr>
        <p:blipFill>
          <a:blip r:embed="rId2"/>
          <a:srcRect/>
          <a:stretch/>
        </p:blipFill>
        <p:spPr>
          <a:xfrm>
            <a:off x="5993296" y="655983"/>
            <a:ext cx="6046304" cy="5505749"/>
          </a:xfrm>
          <a:prstGeom prst="rect">
            <a:avLst/>
          </a:prstGeom>
        </p:spPr>
      </p:pic>
      <p:sp>
        <p:nvSpPr>
          <p:cNvPr id="9" name="TextBox 8">
            <a:extLst>
              <a:ext uri="{FF2B5EF4-FFF2-40B4-BE49-F238E27FC236}">
                <a16:creationId xmlns:a16="http://schemas.microsoft.com/office/drawing/2014/main" id="{982E89A7-690C-DEF7-F540-82915BD0A812}"/>
              </a:ext>
            </a:extLst>
          </p:cNvPr>
          <p:cNvSpPr txBox="1"/>
          <p:nvPr/>
        </p:nvSpPr>
        <p:spPr>
          <a:xfrm>
            <a:off x="125896" y="1719471"/>
            <a:ext cx="6046304" cy="5062924"/>
          </a:xfrm>
          <a:prstGeom prst="rect">
            <a:avLst/>
          </a:prstGeom>
          <a:noFill/>
        </p:spPr>
        <p:txBody>
          <a:bodyPr wrap="square">
            <a:spAutoFit/>
          </a:bodyPr>
          <a:lstStyle/>
          <a:p>
            <a:pPr marL="342900" indent="-3429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X-axis (Range_per_kWh): Efficiency — more distance per energy.</a:t>
            </a:r>
          </a:p>
          <a:p>
            <a:endParaRPr lang="en-US"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Y-axis (Price_per_kWh): Cost efficiency — how much each kWh “costs”.</a:t>
            </a:r>
          </a:p>
          <a:p>
            <a:pPr marL="342900" indent="-342900">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Bubble size (Battery): Represents energy capacity and Color: Car pricing segment.</a:t>
            </a:r>
          </a:p>
          <a:p>
            <a:endParaRPr lang="en-US"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Range increases with battery capacity, showing a strong positive correlation — most EVs above 80 kWh deliver 500–700 km range</a:t>
            </a:r>
          </a:p>
          <a:p>
            <a:endParaRPr lang="en-US"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Higher charging speeds (green–yellow bubbles) are mostly seen in mid-to-large battery capacities (70–120 kWh), indicating optimized fast-charging technologies in premium EVs.</a:t>
            </a:r>
          </a:p>
        </p:txBody>
      </p:sp>
    </p:spTree>
    <p:extLst>
      <p:ext uri="{BB962C8B-B14F-4D97-AF65-F5344CB8AC3E}">
        <p14:creationId xmlns:p14="http://schemas.microsoft.com/office/powerpoint/2010/main" val="67458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A0CE-8274-A1F5-3A9F-98D9815227EB}"/>
              </a:ext>
            </a:extLst>
          </p:cNvPr>
          <p:cNvSpPr>
            <a:spLocks noGrp="1"/>
          </p:cNvSpPr>
          <p:nvPr>
            <p:ph type="ctrTitle"/>
          </p:nvPr>
        </p:nvSpPr>
        <p:spPr>
          <a:xfrm>
            <a:off x="1274261" y="100387"/>
            <a:ext cx="6605715" cy="585413"/>
          </a:xfrm>
        </p:spPr>
        <p:txBody>
          <a:bodyPr>
            <a:normAutofit/>
          </a:bodyPr>
          <a:lstStyle/>
          <a:p>
            <a:r>
              <a:rPr lang="en-IN" sz="3000" dirty="0">
                <a:latin typeface="Times New Roman" panose="02020603050405020304" pitchFamily="18" charset="0"/>
                <a:cs typeface="Times New Roman" panose="02020603050405020304" pitchFamily="18" charset="0"/>
              </a:rPr>
              <a:t>Key Business Questions:</a:t>
            </a:r>
          </a:p>
        </p:txBody>
      </p:sp>
      <p:sp>
        <p:nvSpPr>
          <p:cNvPr id="3" name="Subtitle 2">
            <a:extLst>
              <a:ext uri="{FF2B5EF4-FFF2-40B4-BE49-F238E27FC236}">
                <a16:creationId xmlns:a16="http://schemas.microsoft.com/office/drawing/2014/main" id="{B3930632-BBBE-7E42-5C8B-2887796D6FC6}"/>
              </a:ext>
            </a:extLst>
          </p:cNvPr>
          <p:cNvSpPr>
            <a:spLocks noGrp="1"/>
          </p:cNvSpPr>
          <p:nvPr>
            <p:ph type="subTitle" idx="1"/>
          </p:nvPr>
        </p:nvSpPr>
        <p:spPr>
          <a:xfrm>
            <a:off x="755375" y="685801"/>
            <a:ext cx="9163878" cy="5864086"/>
          </a:xfrm>
        </p:spPr>
        <p:txBody>
          <a:bodyPr>
            <a:noAutofit/>
          </a:bodyPr>
          <a:lstStyle/>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brands offer the most energy-efficient and high-performing electric vehicles?</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does an EV’s price relate to its range, battery capacity, and overall efficiency?</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models provide the best value for money, based on price per kilometer or price per kWh?</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does charging speed vary across different brands and battery sizes?</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is the impact of vehicle weight and acceleration on energy efficiency and range?</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price category (Economy, Mid-range, Premium) offers the most balanced mix of performance, range, and cost?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448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254000" y="193675"/>
            <a:ext cx="2794000" cy="904875"/>
          </a:xfrm>
        </p:spPr>
        <p:txBody>
          <a:bodyPr>
            <a:noAutofit/>
          </a:bodyPr>
          <a:lstStyle/>
          <a:p>
            <a:pPr algn="ctr"/>
            <a:r>
              <a:rPr lang="en-IN" sz="3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408131" y="1251721"/>
            <a:ext cx="10826750" cy="5095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latin typeface="Times New Roman" panose="02020603050405020304" pitchFamily="18" charset="0"/>
                <a:cs typeface="Times New Roman" panose="02020603050405020304" pitchFamily="18" charset="0"/>
              </a:rPr>
              <a:t>1.Growing Range and Efficiency Improvements</a:t>
            </a:r>
          </a:p>
          <a:p>
            <a:r>
              <a:rPr lang="en-US" sz="1600" dirty="0">
                <a:latin typeface="Times New Roman" panose="02020603050405020304" pitchFamily="18" charset="0"/>
                <a:cs typeface="Times New Roman" panose="02020603050405020304" pitchFamily="18" charset="0"/>
              </a:rPr>
              <a:t>Electric vehicles show continuous progress in driving range and energy efficiency, with many modern models exceeding 400–500 km per charge, reflecting strong advancements in battery technology</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2.Brand Leadership and Market Diversity</a:t>
            </a:r>
          </a:p>
          <a:p>
            <a:r>
              <a:rPr lang="en-US" sz="1600" dirty="0">
                <a:latin typeface="Times New Roman" panose="02020603050405020304" pitchFamily="18" charset="0"/>
                <a:cs typeface="Times New Roman" panose="02020603050405020304" pitchFamily="18" charset="0"/>
              </a:rPr>
              <a:t>Tesla, BMW, Hyundai, and Volkswagen lead the EV market with diverse offerings across segments — from compact city cars to luxury SUVs — showcasing a mature and competitive landscape.</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3.Price and Performance Balance</a:t>
            </a:r>
          </a:p>
          <a:p>
            <a:r>
              <a:rPr lang="en-US" sz="1600" dirty="0">
                <a:latin typeface="Times New Roman" panose="02020603050405020304" pitchFamily="18" charset="0"/>
                <a:cs typeface="Times New Roman" panose="02020603050405020304" pitchFamily="18" charset="0"/>
              </a:rPr>
              <a:t>While premium models deliver maximum range and acceleration, mid-range EVs now offer the best balance of cost, efficiency, and range, making electric mobility more accessible to mainstream buyers.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4.Charging Innovation and Convenience</a:t>
            </a:r>
          </a:p>
          <a:p>
            <a:r>
              <a:rPr lang="en-US" sz="1600" dirty="0">
                <a:latin typeface="Times New Roman" panose="02020603050405020304" pitchFamily="18" charset="0"/>
                <a:cs typeface="Times New Roman" panose="02020603050405020304" pitchFamily="18" charset="0"/>
              </a:rPr>
              <a:t>Fast-charging technology continues to improve — some models now add 200–300 km of range in under 30 minutes, helping reduce charging anxiety and supporting long-distance travel.</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5.Efficiency Influencers: </a:t>
            </a:r>
          </a:p>
          <a:p>
            <a:r>
              <a:rPr lang="en-US" sz="1600" dirty="0">
                <a:latin typeface="Times New Roman" panose="02020603050405020304" pitchFamily="18" charset="0"/>
                <a:cs typeface="Times New Roman" panose="02020603050405020304" pitchFamily="18" charset="0"/>
              </a:rPr>
              <a:t>Weight and Design Data shows that lighter vehicles achieve better efficiency (Wh/km), while heavier, performance-focused models trade efficiency for power and speed — highlighting the design trade-off between range and acceleration.</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87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5FDD-9E40-B93A-E557-1D0E9B6DA08A}"/>
              </a:ext>
            </a:extLst>
          </p:cNvPr>
          <p:cNvSpPr>
            <a:spLocks noGrp="1"/>
          </p:cNvSpPr>
          <p:nvPr>
            <p:ph type="title"/>
          </p:nvPr>
        </p:nvSpPr>
        <p:spPr>
          <a:xfrm>
            <a:off x="283660" y="247138"/>
            <a:ext cx="10515600" cy="1325563"/>
          </a:xfrm>
        </p:spPr>
        <p:txBody>
          <a:bodyPr/>
          <a:lstStyle/>
          <a:p>
            <a:r>
              <a:rPr lang="en-US" dirty="0">
                <a:latin typeface="Times New Roman" panose="02020603050405020304" pitchFamily="18" charset="0"/>
                <a:cs typeface="Times New Roman" panose="02020603050405020304" pitchFamily="18" charset="0"/>
              </a:rPr>
              <a:t>Experience– Web Scraping &amp; Data Analysis: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85608D9-1735-0142-AAF8-1110DAFC9C6E}"/>
              </a:ext>
            </a:extLst>
          </p:cNvPr>
          <p:cNvSpPr>
            <a:spLocks noGrp="1" noChangeArrowheads="1"/>
          </p:cNvSpPr>
          <p:nvPr>
            <p:ph type="body" idx="1"/>
          </p:nvPr>
        </p:nvSpPr>
        <p:spPr bwMode="auto">
          <a:xfrm>
            <a:off x="1327846" y="1350029"/>
            <a:ext cx="903142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Electric Vehicle </a:t>
            </a:r>
            <a:r>
              <a:rPr lang="en-US" altLang="en-US" sz="2000" dirty="0">
                <a:solidFill>
                  <a:schemeClr val="tx1"/>
                </a:solidFill>
                <a:latin typeface="Times New Roman" panose="02020603050405020304" pitchFamily="18" charset="0"/>
                <a:cs typeface="Times New Roman" panose="02020603050405020304" pitchFamily="18" charset="0"/>
              </a:rPr>
              <a:t>data is obtain from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match data from multiple websites using Python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BeautifulSoup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and standardized data.</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visualizations showing its performance .</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end-to-end data workflow: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scraping → cleaning → analysis → visualization.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448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4F17-B27D-5353-8B75-94E4DF00F875}"/>
              </a:ext>
            </a:extLst>
          </p:cNvPr>
          <p:cNvSpPr>
            <a:spLocks noGrp="1"/>
          </p:cNvSpPr>
          <p:nvPr>
            <p:ph type="title"/>
          </p:nvPr>
        </p:nvSpPr>
        <p:spPr>
          <a:xfrm>
            <a:off x="283661" y="406420"/>
            <a:ext cx="10515600" cy="1325563"/>
          </a:xfrm>
        </p:spPr>
        <p:txBody>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4" name="Rectangle 1">
            <a:extLst>
              <a:ext uri="{FF2B5EF4-FFF2-40B4-BE49-F238E27FC236}">
                <a16:creationId xmlns:a16="http://schemas.microsoft.com/office/drawing/2014/main" id="{7FA88F87-09D6-310A-575A-399768B2BD26}"/>
              </a:ext>
            </a:extLst>
          </p:cNvPr>
          <p:cNvSpPr>
            <a:spLocks noGrp="1" noChangeArrowheads="1"/>
          </p:cNvSpPr>
          <p:nvPr>
            <p:ph type="body" idx="1"/>
          </p:nvPr>
        </p:nvSpPr>
        <p:spPr bwMode="auto">
          <a:xfrm>
            <a:off x="1664110" y="2176392"/>
            <a:ext cx="574708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or mismatched match details.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duplicate and unclean data.</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Overcoming request blocks and slow scraping.</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Choosing the most meaningful visuals for insights</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09766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4" name="Picture 8" descr="1,800+ Thank You Presentation Stock Photos, Pictures &amp; Royalty-Free Images  - iStock | Thank you for listening, Thank you sign, Thank you note">
            <a:extLst>
              <a:ext uri="{FF2B5EF4-FFF2-40B4-BE49-F238E27FC236}">
                <a16:creationId xmlns:a16="http://schemas.microsoft.com/office/drawing/2014/main" id="{20A35851-7728-0177-9AC4-06858B17C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345" y="692727"/>
            <a:ext cx="9975273" cy="548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1024</TotalTime>
  <Words>1384</Words>
  <Application>Microsoft Office PowerPoint</Application>
  <PresentationFormat>Widescreen</PresentationFormat>
  <Paragraphs>120</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Times New Roman</vt:lpstr>
      <vt:lpstr>Calibri</vt:lpstr>
      <vt:lpstr>Arial</vt:lpstr>
      <vt:lpstr>Cambria Math</vt:lpstr>
      <vt:lpstr>Office Theme</vt:lpstr>
      <vt:lpstr>PowerPoint Presentation</vt:lpstr>
      <vt:lpstr>Introduction:</vt:lpstr>
      <vt:lpstr>Business Problem:</vt:lpstr>
      <vt:lpstr>Objectives:</vt:lpstr>
      <vt:lpstr>Columns description:</vt:lpstr>
      <vt:lpstr>Tools Used:</vt:lpstr>
      <vt:lpstr>Data Cleaning Steps:</vt:lpstr>
      <vt:lpstr>Data Visualization:</vt:lpstr>
      <vt:lpstr>Data Visualization:</vt:lpstr>
      <vt:lpstr>Data Visualization:</vt:lpstr>
      <vt:lpstr>Data Visualization:</vt:lpstr>
      <vt:lpstr>Data Visualization:</vt:lpstr>
      <vt:lpstr>Data Visualization:</vt:lpstr>
      <vt:lpstr>Data Visualization:</vt:lpstr>
      <vt:lpstr>Key Business Questions:</vt:lpstr>
      <vt:lpstr>Conclusion:</vt:lpstr>
      <vt:lpstr>Experience– Web Scraping &amp; Data Analysis:</vt:lpstr>
      <vt:lpstr>Challenges – Web Scraping &amp;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HADWALA AKHIL</cp:lastModifiedBy>
  <cp:revision>48</cp:revision>
  <dcterms:created xsi:type="dcterms:W3CDTF">2021-02-16T05:19:01Z</dcterms:created>
  <dcterms:modified xsi:type="dcterms:W3CDTF">2025-11-08T04:21:20Z</dcterms:modified>
</cp:coreProperties>
</file>